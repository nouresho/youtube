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Project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Bronze → Silver → Gold | Star Schema | Power BI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" y="4480560"/>
            <a:ext cx="9034272" cy="662940"/>
          </a:xfrm>
          <a:prstGeom prst="rect">
            <a:avLst/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|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Multicouche  |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3931920" cy="411480"/>
          </a:xfrm>
          <a:prstGeom prst="rect">
            <a:avLst/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CONTEXTE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566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des données provenant de systèmes opérationnels 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fichiers 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structuré en couches pour rendre les données exploitables en analyse et reporting.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80160"/>
            <a:ext cx="4297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80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OBJECTIFS PÉDAGOGIQUES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39319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architecture Data Warehouse Bronze / Silver / Gold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des données CSV dans une base SQL (Bulk Insert)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standardiser les données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données brutes en données analytiques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vues SQL pour l'analyse finale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qualité des données à chaque étape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de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Source → Bronze → Silver → Gold → Power BI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417320"/>
            <a:ext cx="1508760" cy="2423160"/>
          </a:xfrm>
          <a:prstGeom prst="rect">
            <a:avLst/>
          </a:prstGeom>
          <a:solidFill>
            <a:srgbClr val="475569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417320"/>
            <a:ext cx="15087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514600"/>
            <a:ext cx="1325880" cy="18288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CRM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bruts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81912" y="2468880"/>
            <a:ext cx="2011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417320"/>
            <a:ext cx="1508760" cy="2423160"/>
          </a:xfrm>
          <a:prstGeom prst="rect">
            <a:avLst/>
          </a:prstGeom>
          <a:solidFill>
            <a:srgbClr val="CD7F32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83080" y="1417320"/>
            <a:ext cx="1508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74520" y="2514600"/>
            <a:ext cx="1325880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transformation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2468880"/>
            <a:ext cx="2011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417320"/>
            <a:ext cx="1508760" cy="2423160"/>
          </a:xfrm>
          <a:prstGeom prst="rect">
            <a:avLst/>
          </a:prstGeom>
          <a:solidFill>
            <a:srgbClr val="607D8B"/>
          </a:solidFill>
          <a:ln w="25400">
            <a:solidFill>
              <a:srgbClr val="A8A9A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417320"/>
            <a:ext cx="1508760" cy="73152"/>
          </a:xfrm>
          <a:prstGeom prst="rect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2514600"/>
            <a:ext cx="1325880" cy="18288"/>
          </a:xfrm>
          <a:prstGeom prst="rect">
            <a:avLst/>
          </a:prstGeom>
          <a:solidFill>
            <a:srgbClr val="A8A9AD">
              <a:alpha val="50000"/>
            </a:srgbClr>
          </a:solidFill>
          <a:ln w="12700">
            <a:solidFill>
              <a:srgbClr val="A8A9A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73752" y="2468880"/>
            <a:ext cx="2011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417320"/>
            <a:ext cx="1508760" cy="2423160"/>
          </a:xfrm>
          <a:prstGeom prst="rect">
            <a:avLst/>
          </a:prstGeom>
          <a:solidFill>
            <a:srgbClr val="7B5E00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1417320"/>
            <a:ext cx="150876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2514600"/>
            <a:ext cx="1325880" cy="18288"/>
          </a:xfrm>
          <a:prstGeom prst="rect">
            <a:avLst/>
          </a:prstGeom>
          <a:solidFill>
            <a:srgbClr val="FFD700">
              <a:alpha val="5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9672" y="2468880"/>
            <a:ext cx="2011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1417320"/>
            <a:ext cx="1508760" cy="2423160"/>
          </a:xfrm>
          <a:prstGeom prst="rect">
            <a:avLst/>
          </a:prstGeom>
          <a:solidFill>
            <a:srgbClr val="1E3A5F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1417320"/>
            <a:ext cx="15087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554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12280" y="2514600"/>
            <a:ext cx="1325880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fondamentale : chaque couche a un rôle précis et ne doit pas mélanger les responsabilités des autres couches.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Bronze &amp; Silver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9319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3931920" cy="50292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🥉  BRONZE —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566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base DataWarehouse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les schémas : bronze, silver, gold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: account, store, gltransaction, storemaster, account_mapping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les CSV via BULK INSERT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transformation — copie fidèle de la 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297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34440"/>
            <a:ext cx="4297680" cy="5029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🥈  SILVER — Nettoyage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technique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des espaces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des codes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des types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nulls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6210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incohérences (ex: "P L" → "P&amp;L")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formats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métiers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clés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doublons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Couche Gold — Modèle en Étoile (Star Schema)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80" y="1554480"/>
            <a:ext cx="2377440" cy="1828800"/>
          </a:xfrm>
          <a:prstGeom prst="rect">
            <a:avLst/>
          </a:prstGeom>
          <a:solidFill>
            <a:srgbClr val="7B5E00"/>
          </a:solidFill>
          <a:ln w="3175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0" y="1554480"/>
            <a:ext cx="237744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⭐  fact_gl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93008" y="2011680"/>
            <a:ext cx="21579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(FK)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(FK)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gl_category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737360"/>
            <a:ext cx="2743200" cy="1600200"/>
          </a:xfrm>
          <a:prstGeom prst="rect">
            <a:avLst/>
          </a:prstGeom>
          <a:solidFill>
            <a:srgbClr val="1B3A5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73736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dim_account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21488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(PK)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P&amp;L 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496312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37360"/>
            <a:ext cx="2743200" cy="1600200"/>
          </a:xfrm>
          <a:prstGeom prst="rect">
            <a:avLst/>
          </a:prstGeom>
          <a:solidFill>
            <a:srgbClr val="1B3A5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3736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dim_store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21488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(PK)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city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store_type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496312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1B3A5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clés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× Comptes (account_id)   |   Transactions × Magasins (store_id)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optimisée pour les requêtes analytiques et la performance des tableaux de bord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doublons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clés primaires dans chaque table à chaque couche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399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référentielle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0" y="18013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des clés étrangères entre fact_gl, dim_account et dim_store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399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 Bronze/Silver/Gold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18013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comparatif entre couches pour valider la complétude des données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critique manquante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67588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champs obligatoires : montants, codes comptes, 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0896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des clés métier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0" y="367588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que chaque clé Silver existe bien dans la dimension Gold correspondante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anomalies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66560" y="367588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enregistrements rejetés, des formats incorrects ou des valeurs hors plage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— Visualisation &amp; Reporting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1B3A5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Connexion 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connecté à la base DataWarehouse — Couche Gold comme source principale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029968" cy="306324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Global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1572768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27248"/>
            <a:ext cx="18470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revenus / coûts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par période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par catégorie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783080"/>
            <a:ext cx="2029968" cy="306324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783080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9202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50592" y="25603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&amp; Coûts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9192" y="3044952"/>
            <a:ext cx="1572768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3127248"/>
            <a:ext cx="18470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par compte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écarts budgétaires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financiers clés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783080"/>
            <a:ext cx="2029968" cy="306324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783080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9202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26864" y="25603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Temporelles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55464" y="3044952"/>
            <a:ext cx="1572768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127248"/>
            <a:ext cx="18470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/ trimestrielle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 vs N-1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des transactions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783080"/>
            <a:ext cx="2029968" cy="306324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783080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92024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03136" y="25603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Magasin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31736" y="3044952"/>
            <a:ext cx="1572768" cy="2286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127248"/>
            <a:ext cx="18470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store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magasins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géographique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étoile dans Power BI — Navigation fluide entre faits et dimensions pour une analyse multidimensionnelle complète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Data Warehouse complète, de l'ingestion CSV au reporting interactif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468880" cy="246888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🥉→🥇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3 couches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090672"/>
            <a:ext cx="155448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Silver · Gold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claire et scalable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468880" cy="246888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3090672"/>
            <a:ext cx="155448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 · dim_store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fact_gl — Modèle analytique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468880" cy="2468880"/>
          </a:xfrm>
          <a:prstGeom prst="rect">
            <a:avLst/>
          </a:prstGeom>
          <a:solidFill>
            <a:srgbClr val="1B3A5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Fiabilité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090672"/>
            <a:ext cx="155448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à chaque couche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données garantie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480560"/>
            <a:ext cx="64008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480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→ Insights actionnables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Architecture Project</dc:title>
  <dc:subject>PptxGenJS Presentation</dc:subject>
  <dc:creator>PptxGenJS</dc:creator>
  <cp:lastModifiedBy>PptxGenJS</cp:lastModifiedBy>
  <cp:revision>1</cp:revision>
  <dcterms:created xsi:type="dcterms:W3CDTF">2026-05-14T13:36:41Z</dcterms:created>
  <dcterms:modified xsi:type="dcterms:W3CDTF">2026-05-14T13:36:41Z</dcterms:modified>
</cp:coreProperties>
</file>