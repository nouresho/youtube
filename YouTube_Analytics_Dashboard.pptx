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2C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2C2A"/>
                </a:solidFill>
                <a:latin typeface="Arial"/>
              </a:rPr>
              <a:t>Vues par année (millions)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Vues (M)</c:v>
                </c:pt>
              </c:strCache>
            </c:strRef>
          </c:tx>
          <c:spPr>
            <a:solidFill>
              <a:srgbClr val="534AB7"/>
            </a:solidFill>
            <a:ln w="38100" cap="flat">
              <a:solidFill>
                <a:srgbClr val="534AB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34AB7"/>
              </a:solidFill>
              <a:ln w="9525" cap="flat">
                <a:solidFill>
                  <a:srgbClr val="534AB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1.7</c:v>
                </c:pt>
                <c:pt idx="2">
                  <c:v>8.7</c:v>
                </c:pt>
                <c:pt idx="3">
                  <c:v>189.5</c:v>
                </c:pt>
                <c:pt idx="4">
                  <c:v>150.6</c:v>
                </c:pt>
                <c:pt idx="5">
                  <c:v>157.1</c:v>
                </c:pt>
                <c:pt idx="6">
                  <c:v>137.8</c:v>
                </c:pt>
                <c:pt idx="7">
                  <c:v>132.8</c:v>
                </c:pt>
                <c:pt idx="8">
                  <c:v>105</c:v>
                </c:pt>
                <c:pt idx="9">
                  <c:v>53.3</c:v>
                </c:pt>
                <c:pt idx="10">
                  <c:v>22.1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2C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2C2A"/>
                </a:solidFill>
                <a:latin typeface="Arial"/>
              </a:rPr>
              <a:t>Métriques comparées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Vues (M)</c:v>
                </c:pt>
              </c:strCache>
            </c:strRef>
          </c:tx>
          <c:spPr>
            <a:solidFill>
              <a:srgbClr val="534A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189.5</c:v>
                </c:pt>
                <c:pt idx="1">
                  <c:v>150.6</c:v>
                </c:pt>
                <c:pt idx="2">
                  <c:v>157.1</c:v>
                </c:pt>
                <c:pt idx="3">
                  <c:v>137.8</c:v>
                </c:pt>
                <c:pt idx="4">
                  <c:v>132.8</c:v>
                </c:pt>
                <c:pt idx="5">
                  <c:v>105</c:v>
                </c:pt>
                <c:pt idx="6">
                  <c:v>53.3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Likes (M×10)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36.6</c:v>
                </c:pt>
                <c:pt idx="1">
                  <c:v>28</c:v>
                </c:pt>
                <c:pt idx="2">
                  <c:v>33.2</c:v>
                </c:pt>
                <c:pt idx="3">
                  <c:v>30.3</c:v>
                </c:pt>
                <c:pt idx="4">
                  <c:v>28.6</c:v>
                </c:pt>
                <c:pt idx="5">
                  <c:v>24.5</c:v>
                </c:pt>
                <c:pt idx="6">
                  <c:v>11.3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Cmts (K×100)</c:v>
                </c:pt>
              </c:strCache>
            </c:strRef>
          </c:tx>
          <c:spPr>
            <a:solidFill>
              <a:srgbClr val="854F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13.5</c:v>
                </c:pt>
                <c:pt idx="1">
                  <c:v>8.6</c:v>
                </c:pt>
                <c:pt idx="2">
                  <c:v>8.8</c:v>
                </c:pt>
                <c:pt idx="3">
                  <c:v>8.1</c:v>
                </c:pt>
                <c:pt idx="4">
                  <c:v>7.5</c:v>
                </c:pt>
                <c:pt idx="5">
                  <c:v>6</c:v>
                </c:pt>
                <c:pt idx="6">
                  <c:v>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2C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2C2A"/>
                </a:solidFill>
                <a:latin typeface="Arial"/>
              </a:rPr>
              <a:t>Top 5 vidéos par vues (millions)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Vues (M)</c:v>
                </c:pt>
              </c:strCache>
            </c:strRef>
          </c:tx>
          <c:spPr>
            <a:solidFill>
              <a:srgbClr val="534A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C2C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Learn Python - Full Course...</c:v>
                  </c:pt>
                  <c:pt idx="1">
                    <c:v>Learn JavaScript - Full Course...</c:v>
                  </c:pt>
                  <c:pt idx="2">
                    <c:v>SQL Tutorial - Full Database...</c:v>
                  </c:pt>
                  <c:pt idx="3">
                    <c:v>C Programming Tutorial...</c:v>
                  </c:pt>
                  <c:pt idx="4">
                    <c:v>Harvard CS50 - Full CS Course...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48.7</c:v>
                </c:pt>
                <c:pt idx="1">
                  <c:v>20.7</c:v>
                </c:pt>
                <c:pt idx="2">
                  <c:v>20.6</c:v>
                </c:pt>
                <c:pt idx="3">
                  <c:v>18.5</c:v>
                </c:pt>
                <c:pt idx="4">
                  <c:v>13.5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C2C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2C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2C2A"/>
                </a:solidFill>
                <a:latin typeface="Arial"/>
              </a:rPr>
              <a:t>Distribution des vues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34AB7"/>
              </a:solidFill>
              <a:effectLst/>
            </c:spPr>
          </c:dPt>
          <c:dPt>
            <c:idx val="1"/>
            <c:bubble3D val="0"/>
            <c:spPr>
              <a:solidFill>
                <a:srgbClr val="0F6E56"/>
              </a:solidFill>
              <a:effectLst/>
            </c:spPr>
          </c:dPt>
          <c:dPt>
            <c:idx val="2"/>
            <c:bubble3D val="0"/>
            <c:spPr>
              <a:solidFill>
                <a:srgbClr val="EF9F27"/>
              </a:solidFill>
              <a:effectLst/>
            </c:spPr>
          </c:dPt>
          <c:dPt>
            <c:idx val="3"/>
            <c:bubble3D val="0"/>
            <c:spPr>
              <a:solidFill>
                <a:srgbClr val="B4B2A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Viral (top 5%)</c:v>
                </c:pt>
                <c:pt idx="1">
                  <c:v>Bon (top 25%)</c:v>
                </c:pt>
                <c:pt idx="2">
                  <c:v>Moyen</c:v>
                </c:pt>
                <c:pt idx="3">
                  <c:v>Faible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52</c:v>
                </c:pt>
                <c:pt idx="1">
                  <c:v>22</c:v>
                </c:pt>
                <c:pt idx="2">
                  <c:v>16</c:v>
                </c:pt>
                <c:pt idx="3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2C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2C2A"/>
                </a:solidFill>
                <a:latin typeface="Arial"/>
              </a:rPr>
              <a:t>Vues cumulées (millions)</a:t>
            </a:r>
          </a:p>
        </c:rich>
      </c:tx>
      <c:layout/>
      <c:overlay val="0"/>
    </c:title>
    <c:autoTitleDeleted val="0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Vues cumulées (M)</c:v>
                </c:pt>
              </c:strCache>
            </c:strRef>
          </c:tx>
          <c:spPr>
            <a:solidFill>
              <a:srgbClr val="534A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3.7</c:v>
                </c:pt>
                <c:pt idx="2">
                  <c:v>12.4</c:v>
                </c:pt>
                <c:pt idx="3">
                  <c:v>201.9</c:v>
                </c:pt>
                <c:pt idx="4">
                  <c:v>352.5</c:v>
                </c:pt>
                <c:pt idx="5">
                  <c:v>509.6</c:v>
                </c:pt>
                <c:pt idx="6">
                  <c:v>647.4</c:v>
                </c:pt>
                <c:pt idx="7">
                  <c:v>780.2</c:v>
                </c:pt>
                <c:pt idx="8">
                  <c:v>885.2</c:v>
                </c:pt>
                <c:pt idx="9">
                  <c:v>938.5</c:v>
                </c:pt>
                <c:pt idx="10">
                  <c:v>960.6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2C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2C2A"/>
                </a:solidFill>
                <a:latin typeface="Arial"/>
              </a:rPr>
              <a:t>Likes vs Comments par année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Likes (K)</c:v>
                </c:pt>
              </c:strCache>
            </c:strRef>
          </c:tx>
          <c:spPr>
            <a:solidFill>
              <a:srgbClr val="0F6E56"/>
            </a:solidFill>
            <a:ln w="25400" cap="flat">
              <a:solidFill>
                <a:srgbClr val="0F6E5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6E56"/>
              </a:solidFill>
              <a:ln w="9525" cap="flat">
                <a:solidFill>
                  <a:srgbClr val="0F6E56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8.5</c:v>
                </c:pt>
                <c:pt idx="1">
                  <c:v>22.4</c:v>
                </c:pt>
                <c:pt idx="2">
                  <c:v>145.9</c:v>
                </c:pt>
                <c:pt idx="3">
                  <c:v>3657.5</c:v>
                </c:pt>
                <c:pt idx="4">
                  <c:v>2797</c:v>
                </c:pt>
                <c:pt idx="5">
                  <c:v>3320</c:v>
                </c:pt>
                <c:pt idx="6">
                  <c:v>3034.3</c:v>
                </c:pt>
                <c:pt idx="7">
                  <c:v>2863.7</c:v>
                </c:pt>
                <c:pt idx="8">
                  <c:v>2452.8</c:v>
                </c:pt>
                <c:pt idx="9">
                  <c:v>1129.5</c:v>
                </c:pt>
                <c:pt idx="10">
                  <c:v>616.5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0.7</c:v>
                </c:pt>
                <c:pt idx="1">
                  <c:v>0.5</c:v>
                </c:pt>
                <c:pt idx="2">
                  <c:v>7.4</c:v>
                </c:pt>
                <c:pt idx="3">
                  <c:v>134.8</c:v>
                </c:pt>
                <c:pt idx="4">
                  <c:v>86.1</c:v>
                </c:pt>
                <c:pt idx="5">
                  <c:v>88.4</c:v>
                </c:pt>
                <c:pt idx="6">
                  <c:v>80.7</c:v>
                </c:pt>
                <c:pt idx="7">
                  <c:v>75.2</c:v>
                </c:pt>
                <c:pt idx="8">
                  <c:v>59.8</c:v>
                </c:pt>
                <c:pt idx="9">
                  <c:v>35.8</c:v>
                </c:pt>
                <c:pt idx="10">
                  <c:v>23.6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CEC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7F77DD">
              <a:alpha val="45000"/>
            </a:srgbClr>
          </a:solidFill>
          <a:ln w="12700">
            <a:solidFill>
              <a:srgbClr val="7F77DD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3840480"/>
            <a:ext cx="1645920" cy="1645920"/>
          </a:xfrm>
          <a:prstGeom prst="ellipse">
            <a:avLst/>
          </a:prstGeom>
          <a:solidFill>
            <a:srgbClr val="7F77DD">
              <a:alpha val="40000"/>
            </a:srgbClr>
          </a:solidFill>
          <a:ln w="12700">
            <a:solidFill>
              <a:srgbClr val="7F77D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1396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 · Débriefing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502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freeCodeCamp · Channel 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9144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2 222 vidéos analysées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11 ans de contenu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14800" y="1828800"/>
            <a:ext cx="2240280" cy="822960"/>
          </a:xfrm>
          <a:prstGeom prst="rect">
            <a:avLst/>
          </a:prstGeom>
          <a:solidFill>
            <a:srgbClr val="F1EFE8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828800"/>
            <a:ext cx="45720" cy="8229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1901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totales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24528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967M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537960" y="1828800"/>
            <a:ext cx="2240280" cy="822960"/>
          </a:xfrm>
          <a:prstGeom prst="rect">
            <a:avLst/>
          </a:prstGeom>
          <a:solidFill>
            <a:srgbClr val="F1EFE8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1828800"/>
            <a:ext cx="45720" cy="8229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1901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totaux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47688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20.2M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114800" y="2834640"/>
            <a:ext cx="2240280" cy="822960"/>
          </a:xfrm>
          <a:prstGeom prst="rect">
            <a:avLst/>
          </a:prstGeom>
          <a:solidFill>
            <a:srgbClr val="F1EFE8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834640"/>
            <a:ext cx="45720" cy="82296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24528" y="2907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24528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599K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537960" y="2834640"/>
            <a:ext cx="2240280" cy="822960"/>
          </a:xfrm>
          <a:prstGeom prst="rect">
            <a:avLst/>
          </a:prstGeom>
          <a:solidFill>
            <a:srgbClr val="F1EFE8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2834640"/>
            <a:ext cx="45720" cy="82296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47688" y="2907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engagement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47688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2.15%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114800" y="3931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utilisés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0" y="416052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41605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49240" y="416052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41605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583680" y="416052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1605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818120" y="416052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41605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(analyse)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4320" y="4754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dashboard Power BI professionnel à partir de données YouTube réelles (CSV).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743200" cy="2468880"/>
          </a:xfrm>
          <a:prstGeom prst="rect">
            <a:avLst/>
          </a:prstGeom>
          <a:solidFill>
            <a:srgbClr val="EEEDFE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08760"/>
            <a:ext cx="274320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globale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croissance des vues et engagement sur 11 ans de contenu (2015–2026).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508760"/>
            <a:ext cx="2743200" cy="2468880"/>
          </a:xfrm>
          <a:prstGeom prst="rect">
            <a:avLst/>
          </a:prstGeom>
          <a:solidFill>
            <a:srgbClr val="E1F5EE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508760"/>
            <a:ext cx="274320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645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520440" y="2148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 contenu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performe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788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vidéos, taux d'engagement par vidéo, analyse des outliers viraux.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508760"/>
            <a:ext cx="2743200" cy="2468880"/>
          </a:xfrm>
          <a:prstGeom prst="rect">
            <a:avLst/>
          </a:prstGeom>
          <a:solidFill>
            <a:srgbClr val="FAEED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508760"/>
            <a:ext cx="274320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645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46520" y="2148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les tendances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patterns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2788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mensuelle, croissance cumulée, corrélation likes vs commentaires.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206240"/>
            <a:ext cx="8321040" cy="685800"/>
          </a:xfrm>
          <a:prstGeom prst="rect">
            <a:avLst/>
          </a:prstGeom>
          <a:solidFill>
            <a:srgbClr val="F1EFE8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97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freeCodeCamp YouTube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88920" y="4297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88920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2 222 lignes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4297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37760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views, likes, comments, published_at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86600" y="4297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086600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→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· Channel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15568"/>
            <a:ext cx="45720" cy="9601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234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totales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1208" y="14081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967M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21208" y="17922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vidéos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87752" y="1115568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87752" y="1115568"/>
            <a:ext cx="45720" cy="9601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234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totaux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97480" y="14081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97480" y="17922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64024" y="1115568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64024" y="1115568"/>
            <a:ext cx="45720" cy="96012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1234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73752" y="14081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599K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73752" y="17922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40296" y="1115568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0296" y="1115568"/>
            <a:ext cx="45720" cy="96012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0024" y="1234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d'engagement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50024" y="14081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2.15%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050024" y="17922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Likes+Cmts/Views</a:t>
            </a:r>
            <a:endParaRPr lang="en-US" sz="8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240280"/>
          <a:ext cx="53035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Chart 1" descr=""/>
          <p:cNvGraphicFramePr/>
          <p:nvPr/>
        </p:nvGraphicFramePr>
        <p:xfrm>
          <a:off x="5897880" y="2240280"/>
          <a:ext cx="30175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des vidéos · Top Content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115568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577840" y="1115568"/>
          <a:ext cx="32918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11480" y="37947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d'engagement · Top vidéos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069080"/>
          <a:ext cx="8321040" cy="868680"/>
        </p:xfrm>
        <a:graphic>
          <a:graphicData uri="http://schemas.openxmlformats.org/drawingml/2006/table">
            <a:tbl>
              <a:tblPr/>
              <a:tblGrid>
                <a:gridCol w="4114800"/>
                <a:gridCol w="1280160"/>
                <a:gridCol w="1280160"/>
                <a:gridCol w="164592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Python - Full Course...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JavaScript - Full Course...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Tutorial - Full Database...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Harvard CS50 – Full CS University...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&amp; Insights · Growth Analysis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115568"/>
          <a:ext cx="50292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623560" y="1115568"/>
          <a:ext cx="32004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11480" y="3767328"/>
            <a:ext cx="2743200" cy="1143000"/>
          </a:xfrm>
          <a:prstGeom prst="rect">
            <a:avLst/>
          </a:prstGeom>
          <a:solidFill>
            <a:srgbClr val="EEEDFE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3767328"/>
            <a:ext cx="45720" cy="11430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072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en 2018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76072" y="4114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L'année la plus performante avec 189M vues — quasi 20% du total historique en une seule année.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337560" y="3767328"/>
            <a:ext cx="2743200" cy="1143000"/>
          </a:xfrm>
          <a:prstGeom prst="rect">
            <a:avLst/>
          </a:prstGeom>
          <a:solidFill>
            <a:srgbClr val="E1F5EE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337560" y="3767328"/>
            <a:ext cx="45720" cy="11430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502152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de Pareto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02152" y="4114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des vidéos génèrent 52% des vues. Python &amp; JS à eux seuls représentent 7% des vues totales.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63640" y="3767328"/>
            <a:ext cx="2743200" cy="1143000"/>
          </a:xfrm>
          <a:prstGeom prst="rect">
            <a:avLst/>
          </a:prstGeom>
          <a:solidFill>
            <a:srgbClr val="FAEED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63640" y="3767328"/>
            <a:ext cx="45720" cy="11430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28232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stable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28232" y="4114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la baisse des vues depuis 2018, le taux d'engagement (2.15%) reste constant — audience fidèle.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DAX utilisées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formules Power BI qui calculent les métriques clés du dashboard.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45720" cy="10972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44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3840480" cy="310896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916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SUM('videos'[views])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0665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de toutes les vues. Mesure de base utilisée partout.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371600"/>
            <a:ext cx="45720" cy="10972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44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Likes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691640"/>
            <a:ext cx="3840480" cy="310896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6916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SUM('videos'[likes])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0" y="20665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des likes. Indicateur d'approbation du contenu.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633472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633472"/>
            <a:ext cx="45720" cy="109728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7066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Engagement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953512"/>
            <a:ext cx="3840480" cy="310896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9535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54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DIVIDE(SUM([likes]) + SUM([comments]), SUM([views])) * 100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33284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combiné (likes + cmts) rapporté aux vues. En %.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633472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633472"/>
            <a:ext cx="45720" cy="10972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7066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Cumulées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953512"/>
            <a:ext cx="3840480" cy="310896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9535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 Views], FILTER(ALL('videos'), 'videos'[Année] &lt;= MAX('videos'[Année])))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46320" y="33284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 des vues par ordre chronologique.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895344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895344"/>
            <a:ext cx="45720" cy="10972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968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Vidéo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215384"/>
            <a:ext cx="3840480" cy="310896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2153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TOPN(1, VALUES('videos'[title]), [Total Views])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8640" y="4590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le titre de la vidéo la plus vue dynamiquement.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895344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895344"/>
            <a:ext cx="45720" cy="109728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968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Views / Video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4215384"/>
            <a:ext cx="3840480" cy="310896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42153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54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DIVIDE([Total Views], COUNTROWS('videos'))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46320" y="4590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 vues par vidéo — mesure la régularité.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7F77DD">
              <a:alpha val="45000"/>
            </a:srgbClr>
          </a:solidFill>
          <a:ln w="12700">
            <a:solidFill>
              <a:srgbClr val="7F77DD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2697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Power BI · freeCodeCamp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0" y="4114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877824"/>
            <a:ext cx="182880" cy="1828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13632" y="82296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fut l'année record avec 189M vues, soit 20% du total historique en une seule année.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0" y="1444752"/>
            <a:ext cx="182880" cy="1828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3632" y="138988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des vidéos génèrent 52% des vues. Python, JS et SQL dominent nettement.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0" y="2011680"/>
            <a:ext cx="182880" cy="1828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13632" y="195681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d'engagement reste stable à 2.15% malgré la baisse des vues depuis 2018.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0" y="2578608"/>
            <a:ext cx="182880" cy="1828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13632" y="2523744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courbe cumulée montre une croissance explosive 2017–2020, puis une stabilisation.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3200400"/>
            <a:ext cx="5120640" cy="27432"/>
          </a:xfrm>
          <a:prstGeom prst="rect">
            <a:avLst/>
          </a:prstGeom>
          <a:solidFill>
            <a:srgbClr val="B4B2A9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32918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0" y="37033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05072" y="37398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le dashboard en carrousel LinkedIn (6 slides).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0" y="40873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05072" y="41239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une source de données live via l'API YouTube.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0" y="447141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05072" y="45079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filtre par catégorie (Python, JS, SQL, etc.).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Analytics Dashboard – freeCodeCamp</dc:title>
  <dc:subject>PptxGenJS Presentation</dc:subject>
  <dc:creator>PptxGenJS</dc:creator>
  <cp:lastModifiedBy>PptxGenJS</cp:lastModifiedBy>
  <cp:revision>1</cp:revision>
  <dcterms:created xsi:type="dcterms:W3CDTF">2026-05-03T20:34:08Z</dcterms:created>
  <dcterms:modified xsi:type="dcterms:W3CDTF">2026-05-03T20:34:08Z</dcterms:modified>
</cp:coreProperties>
</file>